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2480" y="1155965"/>
            <a:ext cx="1483360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14712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823681"/>
            <a:ext cx="4355465" cy="1849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3466" y="3351784"/>
            <a:ext cx="62928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488258" y="3351784"/>
            <a:ext cx="55562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354524" y="3351784"/>
            <a:ext cx="19875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slide" Target="slide8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8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slide" Target="slide8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slide" Target="slide8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slide" Target="slide8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slide" Target="slide8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8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694067"/>
            <a:ext cx="4483735" cy="529590"/>
            <a:chOff x="87743" y="694067"/>
            <a:chExt cx="4483735" cy="529590"/>
          </a:xfrm>
        </p:grpSpPr>
        <p:sp>
          <p:nvSpPr>
            <p:cNvPr id="3" name="object 3"/>
            <p:cNvSpPr/>
            <p:nvPr/>
          </p:nvSpPr>
          <p:spPr>
            <a:xfrm>
              <a:off x="87743" y="694067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8544" y="757336"/>
              <a:ext cx="4432935" cy="466090"/>
            </a:xfrm>
            <a:custGeom>
              <a:avLst/>
              <a:gdLst/>
              <a:ahLst/>
              <a:cxnLst/>
              <a:rect l="l" t="t" r="r" b="b"/>
              <a:pathLst>
                <a:path w="4432935" h="466090">
                  <a:moveTo>
                    <a:pt x="4432566" y="0"/>
                  </a:moveTo>
                  <a:lnTo>
                    <a:pt x="0" y="0"/>
                  </a:lnTo>
                  <a:lnTo>
                    <a:pt x="0" y="466093"/>
                  </a:lnTo>
                  <a:lnTo>
                    <a:pt x="4432566" y="46609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7743" y="738499"/>
              <a:ext cx="4432935" cy="434340"/>
            </a:xfrm>
            <a:custGeom>
              <a:avLst/>
              <a:gdLst/>
              <a:ahLst/>
              <a:cxnLst/>
              <a:rect l="l" t="t" r="r" b="b"/>
              <a:pathLst>
                <a:path w="4432935" h="434340">
                  <a:moveTo>
                    <a:pt x="4432566" y="0"/>
                  </a:moveTo>
                  <a:lnTo>
                    <a:pt x="0" y="0"/>
                  </a:lnTo>
                  <a:lnTo>
                    <a:pt x="0" y="383329"/>
                  </a:lnTo>
                  <a:lnTo>
                    <a:pt x="4008" y="403054"/>
                  </a:lnTo>
                  <a:lnTo>
                    <a:pt x="14922" y="419207"/>
                  </a:lnTo>
                  <a:lnTo>
                    <a:pt x="31075" y="430121"/>
                  </a:lnTo>
                  <a:lnTo>
                    <a:pt x="50800" y="434129"/>
                  </a:lnTo>
                  <a:lnTo>
                    <a:pt x="4381765" y="434129"/>
                  </a:lnTo>
                  <a:lnTo>
                    <a:pt x="4401490" y="430121"/>
                  </a:lnTo>
                  <a:lnTo>
                    <a:pt x="4417643" y="419207"/>
                  </a:lnTo>
                  <a:lnTo>
                    <a:pt x="4428558" y="403054"/>
                  </a:lnTo>
                  <a:lnTo>
                    <a:pt x="4432566" y="38332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8544" y="757336"/>
            <a:ext cx="4432935" cy="466090"/>
          </a:xfrm>
          <a:prstGeom prst="rect"/>
        </p:spPr>
        <p:txBody>
          <a:bodyPr wrap="square" lIns="0" tIns="56515" rIns="0" bIns="0" rtlCol="0" vert="horz">
            <a:spAutoFit/>
          </a:bodyPr>
          <a:lstStyle/>
          <a:p>
            <a:pPr marL="919480">
              <a:lnSpc>
                <a:spcPct val="100000"/>
              </a:lnSpc>
              <a:spcBef>
                <a:spcPts val="445"/>
              </a:spcBef>
            </a:pPr>
            <a:r>
              <a:rPr dirty="0" spc="65"/>
              <a:t>AI</a:t>
            </a:r>
            <a:r>
              <a:rPr dirty="0" spc="195"/>
              <a:t> </a:t>
            </a:r>
            <a:r>
              <a:rPr dirty="0"/>
              <a:t>in</a:t>
            </a:r>
            <a:r>
              <a:rPr dirty="0" spc="195"/>
              <a:t> </a:t>
            </a:r>
            <a:r>
              <a:rPr dirty="0"/>
              <a:t>Farm</a:t>
            </a:r>
            <a:r>
              <a:rPr dirty="0" spc="195"/>
              <a:t> </a:t>
            </a:r>
            <a:r>
              <a:rPr dirty="0"/>
              <a:t>Account</a:t>
            </a:r>
            <a:r>
              <a:rPr dirty="0" spc="200"/>
              <a:t> </a:t>
            </a:r>
            <a:r>
              <a:rPr dirty="0" spc="-10"/>
              <a:t>Management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72716" y="1382711"/>
            <a:ext cx="1062990" cy="7181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Tahoma"/>
                <a:cs typeface="Tahoma"/>
              </a:rPr>
              <a:t>Chandra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Shekar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100">
              <a:latin typeface="Tahoma"/>
              <a:cs typeface="Tahoma"/>
            </a:endParaRPr>
          </a:p>
          <a:p>
            <a:pPr marL="75565"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March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25,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2026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6821" y="2631197"/>
            <a:ext cx="33432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Calibri"/>
                <a:cs typeface="Calibri"/>
              </a:rPr>
              <a:t>From</a:t>
            </a:r>
            <a:r>
              <a:rPr dirty="0" sz="1100" spc="12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Mud</a:t>
            </a:r>
            <a:r>
              <a:rPr dirty="0" sz="1100" spc="13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to</a:t>
            </a:r>
            <a:r>
              <a:rPr dirty="0" sz="1100" spc="12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Money</a:t>
            </a:r>
            <a:r>
              <a:rPr dirty="0" sz="1100" spc="130" i="1">
                <a:latin typeface="Calibri"/>
                <a:cs typeface="Calibri"/>
              </a:rPr>
              <a:t> </a:t>
            </a:r>
            <a:r>
              <a:rPr dirty="0" sz="1100" spc="90" i="1">
                <a:latin typeface="Calibri"/>
                <a:cs typeface="Calibri"/>
              </a:rPr>
              <a:t>—</a:t>
            </a:r>
            <a:r>
              <a:rPr dirty="0" sz="1100" spc="12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Making</a:t>
            </a:r>
            <a:r>
              <a:rPr dirty="0" sz="1100" spc="12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Farms</a:t>
            </a:r>
            <a:r>
              <a:rPr dirty="0" sz="1100" spc="12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Financially</a:t>
            </a:r>
            <a:r>
              <a:rPr dirty="0" sz="1100" spc="120" i="1">
                <a:latin typeface="Calibri"/>
                <a:cs typeface="Calibri"/>
              </a:rPr>
              <a:t> </a:t>
            </a:r>
            <a:r>
              <a:rPr dirty="0" sz="1100" spc="-20" i="1">
                <a:latin typeface="Calibri"/>
                <a:cs typeface="Calibri"/>
              </a:rPr>
              <a:t>Smart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25650" y="3351784"/>
            <a:ext cx="1157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AI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Farm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Account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Management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dirty="0" spc="150"/>
              <a:t> </a:t>
            </a:r>
            <a:r>
              <a:rPr dirty="0" spc="-10"/>
              <a:t>Statement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7317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6296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352765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504607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656435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1808264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005622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5844" y="866188"/>
            <a:ext cx="3978910" cy="17741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 marR="1051560">
              <a:lnSpc>
                <a:spcPct val="113199"/>
              </a:lnSpc>
              <a:spcBef>
                <a:spcPts val="100"/>
              </a:spcBef>
            </a:pPr>
            <a:r>
              <a:rPr dirty="0" sz="1100" spc="-20">
                <a:latin typeface="Tahoma"/>
                <a:cs typeface="Tahoma"/>
              </a:rPr>
              <a:t>Traditional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farm </a:t>
            </a:r>
            <a:r>
              <a:rPr dirty="0" sz="1100" spc="-35">
                <a:latin typeface="Tahoma"/>
                <a:cs typeface="Tahoma"/>
              </a:rPr>
              <a:t>accounting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mostly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manual </a:t>
            </a:r>
            <a:r>
              <a:rPr dirty="0" sz="1100" spc="-10">
                <a:latin typeface="Tahoma"/>
                <a:cs typeface="Tahoma"/>
              </a:rPr>
              <a:t>Challenges:</a:t>
            </a:r>
            <a:endParaRPr sz="1100">
              <a:latin typeface="Tahoma"/>
              <a:cs typeface="Tahoma"/>
            </a:endParaRPr>
          </a:p>
          <a:p>
            <a:pPr marL="566420" marR="2208530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Tahoma"/>
                <a:cs typeface="Tahoma"/>
              </a:rPr>
              <a:t>Poor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financial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tracking </a:t>
            </a:r>
            <a:r>
              <a:rPr dirty="0" sz="1000" spc="-30">
                <a:latin typeface="Tahoma"/>
                <a:cs typeface="Tahoma"/>
              </a:rPr>
              <a:t>Unpredictable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income</a:t>
            </a:r>
            <a:endParaRPr sz="1000">
              <a:latin typeface="Tahoma"/>
              <a:cs typeface="Tahoma"/>
            </a:endParaRPr>
          </a:p>
          <a:p>
            <a:pPr marL="566420" marR="1225550">
              <a:lnSpc>
                <a:spcPts val="1200"/>
              </a:lnSpc>
              <a:spcBef>
                <a:spcPts val="30"/>
              </a:spcBef>
            </a:pPr>
            <a:r>
              <a:rPr dirty="0" sz="1000">
                <a:latin typeface="Tahoma"/>
                <a:cs typeface="Tahoma"/>
              </a:rPr>
              <a:t>High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input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costs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(seeds,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fertilizers,</a:t>
            </a:r>
            <a:r>
              <a:rPr dirty="0" sz="1000" spc="-20">
                <a:latin typeface="Tahoma"/>
                <a:cs typeface="Tahoma"/>
              </a:rPr>
              <a:t> labor) </a:t>
            </a:r>
            <a:r>
              <a:rPr dirty="0" sz="1000">
                <a:latin typeface="Tahoma"/>
                <a:cs typeface="Tahoma"/>
              </a:rPr>
              <a:t>Lack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profit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visibility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10"/>
              </a:spcBef>
            </a:pPr>
            <a:r>
              <a:rPr dirty="0" sz="1100" spc="-55">
                <a:latin typeface="Tahoma"/>
                <a:cs typeface="Tahoma"/>
              </a:rPr>
              <a:t>Farmers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lack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data-</a:t>
            </a:r>
            <a:r>
              <a:rPr dirty="0" sz="1100" spc="-30">
                <a:latin typeface="Tahoma"/>
                <a:cs typeface="Tahoma"/>
              </a:rPr>
              <a:t>driven</a:t>
            </a:r>
            <a:r>
              <a:rPr dirty="0" sz="1100" spc="-20">
                <a:latin typeface="Tahoma"/>
                <a:cs typeface="Tahoma"/>
              </a:rPr>
              <a:t> financial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decision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tools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dirty="0" sz="1100" spc="-45" b="1">
                <a:latin typeface="Arial"/>
                <a:cs typeface="Arial"/>
              </a:rPr>
              <a:t>Funny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Analogy:</a:t>
            </a:r>
            <a:r>
              <a:rPr dirty="0" sz="1100" spc="85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Managing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farm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accounts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manually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like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counting </a:t>
            </a:r>
            <a:r>
              <a:rPr dirty="0" sz="1100" spc="-60">
                <a:latin typeface="Tahoma"/>
                <a:cs typeface="Tahoma"/>
              </a:rPr>
              <a:t>money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storm!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25650" y="3351784"/>
            <a:ext cx="1157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AI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in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Farm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Account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Management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Methodology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981414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29" y="968494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883523"/>
            <a:ext cx="2854325" cy="1075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55600">
              <a:lnSpc>
                <a:spcPct val="125299"/>
              </a:lnSpc>
              <a:spcBef>
                <a:spcPts val="100"/>
              </a:spcBef>
            </a:pPr>
            <a:r>
              <a:rPr dirty="0" sz="1100">
                <a:latin typeface="Tahoma"/>
                <a:cs typeface="Tahoma"/>
              </a:rPr>
              <a:t>Collect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farm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financial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operational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data </a:t>
            </a:r>
            <a:r>
              <a:rPr dirty="0" sz="1100" spc="-45">
                <a:latin typeface="Tahoma"/>
                <a:cs typeface="Tahoma"/>
              </a:rPr>
              <a:t>Integrate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IoT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real-</a:t>
            </a:r>
            <a:r>
              <a:rPr dirty="0" sz="1100" spc="-25">
                <a:latin typeface="Tahoma"/>
                <a:cs typeface="Tahoma"/>
              </a:rPr>
              <a:t>time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inputs </a:t>
            </a:r>
            <a:r>
              <a:rPr dirty="0" sz="1100" spc="-25">
                <a:latin typeface="Tahoma"/>
                <a:cs typeface="Tahoma"/>
              </a:rPr>
              <a:t>Store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data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cloud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systems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Tahoma"/>
                <a:cs typeface="Tahoma"/>
              </a:rPr>
              <a:t>Apply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models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100" spc="-45">
                <a:latin typeface="Tahoma"/>
                <a:cs typeface="Tahoma"/>
              </a:rPr>
              <a:t>Generate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financial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insights</a:t>
            </a:r>
            <a:r>
              <a:rPr dirty="0" sz="1100" spc="-35">
                <a:latin typeface="Tahoma"/>
                <a:cs typeface="Tahoma"/>
              </a:rPr>
              <a:t> and </a:t>
            </a:r>
            <a:r>
              <a:rPr dirty="0" sz="1100" spc="-45">
                <a:latin typeface="Tahoma"/>
                <a:cs typeface="Tahoma"/>
              </a:rPr>
              <a:t>recommendations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191447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1917" y="1178527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401479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1917" y="138855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611512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1917" y="1598592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1821545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51917" y="1808624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44" y="2121457"/>
            <a:ext cx="3745229" cy="4718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1">
                <a:latin typeface="Arial"/>
                <a:cs typeface="Arial"/>
              </a:rPr>
              <a:t>Flow:</a:t>
            </a:r>
            <a:r>
              <a:rPr dirty="0" sz="1100" spc="11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Data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25">
                <a:latin typeface="Tahoma"/>
                <a:cs typeface="Tahoma"/>
              </a:rPr>
              <a:t> Analysis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-40">
                <a:latin typeface="Tahoma"/>
                <a:cs typeface="Tahoma"/>
              </a:rPr>
              <a:t>Insights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Decisions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100" spc="-10" b="1">
                <a:latin typeface="Arial"/>
                <a:cs typeface="Arial"/>
              </a:rPr>
              <a:t>Narrative:</a:t>
            </a:r>
            <a:r>
              <a:rPr dirty="0" sz="1100" spc="140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Farm</a:t>
            </a:r>
            <a:r>
              <a:rPr dirty="0" sz="1100">
                <a:latin typeface="Tahoma"/>
                <a:cs typeface="Tahoma"/>
              </a:rPr>
              <a:t> = </a:t>
            </a:r>
            <a:r>
              <a:rPr dirty="0" sz="1100" spc="-35">
                <a:latin typeface="Tahoma"/>
                <a:cs typeface="Tahoma"/>
              </a:rPr>
              <a:t>Business,</a:t>
            </a:r>
            <a:r>
              <a:rPr dirty="0" sz="1100">
                <a:latin typeface="Tahoma"/>
                <a:cs typeface="Tahoma"/>
              </a:rPr>
              <a:t> AI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 </a:t>
            </a:r>
            <a:r>
              <a:rPr dirty="0" sz="1100" spc="-20">
                <a:latin typeface="Tahoma"/>
                <a:cs typeface="Tahoma"/>
              </a:rPr>
              <a:t>Accountant,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Farmer</a:t>
            </a:r>
            <a:r>
              <a:rPr dirty="0" sz="1100">
                <a:latin typeface="Tahoma"/>
                <a:cs typeface="Tahoma"/>
              </a:rPr>
              <a:t> = </a:t>
            </a:r>
            <a:r>
              <a:rPr dirty="0" sz="1100" spc="-25">
                <a:latin typeface="Tahoma"/>
                <a:cs typeface="Tahoma"/>
              </a:rPr>
              <a:t>CEO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725650" y="3351784"/>
            <a:ext cx="1157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AI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in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Farm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Account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Management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Data</a:t>
            </a:r>
            <a:r>
              <a:rPr dirty="0" spc="310"/>
              <a:t> </a:t>
            </a:r>
            <a:r>
              <a:rPr dirty="0" spc="-10"/>
              <a:t>Description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3818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028001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179830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35694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546758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1698587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1875701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865" y="2065515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0865" y="2217343"/>
            <a:ext cx="52590" cy="5259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5844" y="729679"/>
            <a:ext cx="4215130" cy="210947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285"/>
              </a:spcBef>
            </a:pPr>
            <a:r>
              <a:rPr dirty="0" sz="1100" spc="-10">
                <a:latin typeface="Tahoma"/>
                <a:cs typeface="Tahoma"/>
              </a:rPr>
              <a:t>Financial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Data:</a:t>
            </a:r>
            <a:endParaRPr sz="1100">
              <a:latin typeface="Tahoma"/>
              <a:cs typeface="Tahoma"/>
            </a:endParaRPr>
          </a:p>
          <a:p>
            <a:pPr marL="566420" marR="1936750">
              <a:lnSpc>
                <a:spcPct val="100000"/>
              </a:lnSpc>
              <a:spcBef>
                <a:spcPts val="175"/>
              </a:spcBef>
            </a:pPr>
            <a:r>
              <a:rPr dirty="0" sz="1000" spc="-40">
                <a:latin typeface="Tahoma"/>
                <a:cs typeface="Tahoma"/>
              </a:rPr>
              <a:t>Input</a:t>
            </a:r>
            <a:r>
              <a:rPr dirty="0" sz="1000" spc="-25">
                <a:latin typeface="Tahoma"/>
                <a:cs typeface="Tahoma"/>
              </a:rPr>
              <a:t> costs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(seeds,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water,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labor) </a:t>
            </a:r>
            <a:r>
              <a:rPr dirty="0" sz="1000" spc="-50">
                <a:latin typeface="Tahoma"/>
                <a:cs typeface="Tahoma"/>
              </a:rPr>
              <a:t>Revenue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crop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sales</a:t>
            </a:r>
            <a:endParaRPr sz="1000">
              <a:latin typeface="Tahoma"/>
              <a:cs typeface="Tahoma"/>
            </a:endParaRPr>
          </a:p>
          <a:p>
            <a:pPr marL="566420" marR="2740025" indent="-277495">
              <a:lnSpc>
                <a:spcPct val="106400"/>
              </a:lnSpc>
              <a:spcBef>
                <a:spcPts val="105"/>
              </a:spcBef>
            </a:pPr>
            <a:r>
              <a:rPr dirty="0" sz="1100" spc="-25">
                <a:latin typeface="Tahoma"/>
                <a:cs typeface="Tahoma"/>
              </a:rPr>
              <a:t>Operational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Data: </a:t>
            </a:r>
            <a:r>
              <a:rPr dirty="0" sz="1000">
                <a:latin typeface="Tahoma"/>
                <a:cs typeface="Tahoma"/>
              </a:rPr>
              <a:t>Yield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per </a:t>
            </a:r>
            <a:r>
              <a:rPr dirty="0" sz="1000" spc="-50">
                <a:latin typeface="Tahoma"/>
                <a:cs typeface="Tahoma"/>
              </a:rPr>
              <a:t>hectare </a:t>
            </a:r>
            <a:r>
              <a:rPr dirty="0" sz="1000" spc="-40">
                <a:latin typeface="Tahoma"/>
                <a:cs typeface="Tahoma"/>
              </a:rPr>
              <a:t>Resource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usage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95"/>
              </a:spcBef>
            </a:pPr>
            <a:r>
              <a:rPr dirty="0" sz="1100" spc="-20">
                <a:latin typeface="Tahoma"/>
                <a:cs typeface="Tahoma"/>
              </a:rPr>
              <a:t>External </a:t>
            </a:r>
            <a:r>
              <a:rPr dirty="0" sz="1100" spc="-10">
                <a:latin typeface="Tahoma"/>
                <a:cs typeface="Tahoma"/>
              </a:rPr>
              <a:t>Data:</a:t>
            </a:r>
            <a:endParaRPr sz="1100">
              <a:latin typeface="Tahoma"/>
              <a:cs typeface="Tahoma"/>
            </a:endParaRPr>
          </a:p>
          <a:p>
            <a:pPr marL="566420" marR="2620645">
              <a:lnSpc>
                <a:spcPct val="100000"/>
              </a:lnSpc>
              <a:spcBef>
                <a:spcPts val="175"/>
              </a:spcBef>
            </a:pPr>
            <a:r>
              <a:rPr dirty="0" sz="1000" spc="-10">
                <a:latin typeface="Tahoma"/>
                <a:cs typeface="Tahoma"/>
              </a:rPr>
              <a:t>Market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prices </a:t>
            </a:r>
            <a:r>
              <a:rPr dirty="0" sz="1000" spc="-35">
                <a:latin typeface="Tahoma"/>
                <a:cs typeface="Tahoma"/>
              </a:rPr>
              <a:t>Weather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conditions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</a:pPr>
            <a:r>
              <a:rPr dirty="0" sz="1100" spc="-45" b="1">
                <a:latin typeface="Arial"/>
                <a:cs typeface="Arial"/>
              </a:rPr>
              <a:t>Funny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Analogy:</a:t>
            </a:r>
            <a:r>
              <a:rPr dirty="0" sz="1100" spc="11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Like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tracking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expenses,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but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your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shopping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list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includes </a:t>
            </a:r>
            <a:r>
              <a:rPr dirty="0" sz="1100" spc="-10">
                <a:latin typeface="Tahoma"/>
                <a:cs typeface="Tahoma"/>
              </a:rPr>
              <a:t>tractors!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725650" y="3351784"/>
            <a:ext cx="1157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AI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in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Farm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Account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11" action="ppaction://hlinksldjump"/>
              </a:rPr>
              <a:t>Management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Model</a:t>
            </a:r>
            <a:r>
              <a:rPr dirty="0" spc="105"/>
              <a:t> </a:t>
            </a:r>
            <a:r>
              <a:rPr dirty="0" spc="160"/>
              <a:t>/</a:t>
            </a:r>
            <a:r>
              <a:rPr dirty="0" spc="105"/>
              <a:t> </a:t>
            </a:r>
            <a:r>
              <a:rPr dirty="0" spc="-10"/>
              <a:t>Approach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14463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104277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256106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45346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663496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44" y="805928"/>
            <a:ext cx="3733165" cy="18923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566420" marR="1435100" indent="-277495">
              <a:lnSpc>
                <a:spcPct val="106400"/>
              </a:lnSpc>
              <a:spcBef>
                <a:spcPts val="200"/>
              </a:spcBef>
            </a:pPr>
            <a:r>
              <a:rPr dirty="0" sz="1100" spc="-10">
                <a:latin typeface="Tahoma"/>
                <a:cs typeface="Tahoma"/>
              </a:rPr>
              <a:t>Machine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Learning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Models: </a:t>
            </a:r>
            <a:r>
              <a:rPr dirty="0" sz="1000" spc="-40">
                <a:latin typeface="Tahoma"/>
                <a:cs typeface="Tahoma"/>
              </a:rPr>
              <a:t>Regression:</a:t>
            </a:r>
            <a:r>
              <a:rPr dirty="0" sz="1000" spc="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Predict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profit/loss </a:t>
            </a:r>
            <a:r>
              <a:rPr dirty="0" sz="1000" spc="-20">
                <a:latin typeface="Tahoma"/>
                <a:cs typeface="Tahoma"/>
              </a:rPr>
              <a:t>Classification: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Identify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risk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levels</a:t>
            </a:r>
            <a:endParaRPr sz="1000">
              <a:latin typeface="Tahoma"/>
              <a:cs typeface="Tahoma"/>
            </a:endParaRPr>
          </a:p>
          <a:p>
            <a:pPr marL="289560" marR="791845">
              <a:lnSpc>
                <a:spcPct val="125299"/>
              </a:lnSpc>
              <a:spcBef>
                <a:spcPts val="20"/>
              </a:spcBef>
            </a:pPr>
            <a:r>
              <a:rPr dirty="0" sz="1100" spc="-10">
                <a:latin typeface="Tahoma"/>
                <a:cs typeface="Tahoma"/>
              </a:rPr>
              <a:t>Optimization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algorithms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budget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allocation </a:t>
            </a:r>
            <a:r>
              <a:rPr dirty="0" sz="1100" spc="-35">
                <a:latin typeface="Tahoma"/>
                <a:cs typeface="Tahoma"/>
              </a:rPr>
              <a:t>Real-</a:t>
            </a:r>
            <a:r>
              <a:rPr dirty="0" sz="1100" spc="-10">
                <a:latin typeface="Tahoma"/>
                <a:cs typeface="Tahoma"/>
              </a:rPr>
              <a:t>time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monitoring using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IoT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integration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 spc="-10" b="1">
                <a:latin typeface="Arial"/>
                <a:cs typeface="Arial"/>
              </a:rPr>
              <a:t>Workflow:</a:t>
            </a:r>
            <a:endParaRPr sz="1100">
              <a:latin typeface="Arial"/>
              <a:cs typeface="Arial"/>
            </a:endParaRPr>
          </a:p>
          <a:p>
            <a:pPr marL="635635">
              <a:lnSpc>
                <a:spcPct val="100000"/>
              </a:lnSpc>
              <a:spcBef>
                <a:spcPts val="935"/>
              </a:spcBef>
            </a:pPr>
            <a:r>
              <a:rPr dirty="0" sz="1100" spc="-25">
                <a:latin typeface="Tahoma"/>
                <a:cs typeface="Tahoma"/>
              </a:rPr>
              <a:t>Farm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Data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spc="-45">
                <a:latin typeface="Tahoma"/>
                <a:cs typeface="Tahoma"/>
              </a:rPr>
              <a:t>Preprocessing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Model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spc="-30">
                <a:latin typeface="Tahoma"/>
                <a:cs typeface="Tahoma"/>
              </a:rPr>
              <a:t>Insights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00" spc="-45" b="1">
                <a:latin typeface="Arial"/>
                <a:cs typeface="Arial"/>
              </a:rPr>
              <a:t>Funny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Analogy:</a:t>
            </a:r>
            <a:r>
              <a:rPr dirty="0" sz="1100" spc="85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Like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financial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advisor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50">
                <a:latin typeface="Tahoma"/>
                <a:cs typeface="Tahoma"/>
              </a:rPr>
              <a:t> your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crops!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25650" y="3351784"/>
            <a:ext cx="1157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AI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in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Farm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Account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Management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Results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3286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4288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52918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662950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844" y="905634"/>
            <a:ext cx="423672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 marR="1894205">
              <a:lnSpc>
                <a:spcPct val="125299"/>
              </a:lnSpc>
              <a:spcBef>
                <a:spcPts val="100"/>
              </a:spcBef>
            </a:pPr>
            <a:r>
              <a:rPr dirty="0" sz="1100" spc="-70">
                <a:latin typeface="Tahoma"/>
                <a:cs typeface="Tahoma"/>
              </a:rPr>
              <a:t>Improved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profit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prediction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accuracy </a:t>
            </a:r>
            <a:r>
              <a:rPr dirty="0" sz="1100">
                <a:latin typeface="Tahoma"/>
                <a:cs typeface="Tahoma"/>
              </a:rPr>
              <a:t>Better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cost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management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 sz="1100" spc="-45">
                <a:latin typeface="Tahoma"/>
                <a:cs typeface="Tahoma"/>
              </a:rPr>
              <a:t>Reduced </a:t>
            </a:r>
            <a:r>
              <a:rPr dirty="0" sz="1100" spc="-20">
                <a:latin typeface="Tahoma"/>
                <a:cs typeface="Tahoma"/>
              </a:rPr>
              <a:t>financial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risks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z="1100" spc="-60">
                <a:latin typeface="Tahoma"/>
                <a:cs typeface="Tahoma"/>
              </a:rPr>
              <a:t>Increased</a:t>
            </a:r>
            <a:r>
              <a:rPr dirty="0" sz="1100" spc="-30">
                <a:latin typeface="Tahoma"/>
                <a:cs typeface="Tahoma"/>
              </a:rPr>
              <a:t> return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investment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(ROI)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20" b="1">
                <a:latin typeface="Arial"/>
                <a:cs typeface="Arial"/>
              </a:rPr>
              <a:t>Insight:</a:t>
            </a:r>
            <a:r>
              <a:rPr dirty="0" sz="1100" spc="10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enables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proactive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financial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planning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844"/>
              </a:spcBef>
            </a:pPr>
            <a:r>
              <a:rPr dirty="0" sz="1100" spc="-45" b="1">
                <a:latin typeface="Arial"/>
                <a:cs typeface="Arial"/>
              </a:rPr>
              <a:t>Funny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Analogy:</a:t>
            </a:r>
            <a:r>
              <a:rPr dirty="0" sz="1100" spc="85" b="1">
                <a:latin typeface="Arial"/>
                <a:cs typeface="Arial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“Where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did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my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money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go?”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“Here’s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where</a:t>
            </a:r>
            <a:r>
              <a:rPr dirty="0" sz="1100" spc="-25">
                <a:latin typeface="Tahoma"/>
                <a:cs typeface="Tahoma"/>
              </a:rPr>
              <a:t> to </a:t>
            </a:r>
            <a:r>
              <a:rPr dirty="0" sz="1100" spc="-10">
                <a:latin typeface="Tahoma"/>
                <a:cs typeface="Tahoma"/>
              </a:rPr>
              <a:t>invest!”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25650" y="3351784"/>
            <a:ext cx="1157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AI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in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Farm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Account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Management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50900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6093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37096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9103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01062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211095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9560" marR="1103630">
              <a:lnSpc>
                <a:spcPct val="125299"/>
              </a:lnSpc>
              <a:spcBef>
                <a:spcPts val="100"/>
              </a:spcBef>
            </a:pPr>
            <a:r>
              <a:rPr dirty="0"/>
              <a:t>AI</a:t>
            </a:r>
            <a:r>
              <a:rPr dirty="0" spc="-30"/>
              <a:t> </a:t>
            </a:r>
            <a:r>
              <a:rPr dirty="0" spc="-45"/>
              <a:t>transforms</a:t>
            </a:r>
            <a:r>
              <a:rPr dirty="0" spc="-25"/>
              <a:t> </a:t>
            </a:r>
            <a:r>
              <a:rPr dirty="0" spc="-30"/>
              <a:t>farm</a:t>
            </a:r>
            <a:r>
              <a:rPr dirty="0" spc="-25"/>
              <a:t> </a:t>
            </a:r>
            <a:r>
              <a:rPr dirty="0" spc="-35"/>
              <a:t>accounting</a:t>
            </a:r>
            <a:r>
              <a:rPr dirty="0" spc="-25"/>
              <a:t> </a:t>
            </a:r>
            <a:r>
              <a:rPr dirty="0"/>
              <a:t>into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 spc="-40"/>
              <a:t>smart</a:t>
            </a:r>
            <a:r>
              <a:rPr dirty="0" spc="-25"/>
              <a:t> </a:t>
            </a:r>
            <a:r>
              <a:rPr dirty="0" spc="-50"/>
              <a:t>system </a:t>
            </a:r>
            <a:r>
              <a:rPr dirty="0" spc="-35"/>
              <a:t>Enables </a:t>
            </a:r>
            <a:r>
              <a:rPr dirty="0" spc="-50"/>
              <a:t>data-</a:t>
            </a:r>
            <a:r>
              <a:rPr dirty="0" spc="-30"/>
              <a:t>driven</a:t>
            </a:r>
            <a:r>
              <a:rPr dirty="0" spc="-25"/>
              <a:t> </a:t>
            </a:r>
            <a:r>
              <a:rPr dirty="0" spc="-40"/>
              <a:t>budgeting</a:t>
            </a:r>
            <a:r>
              <a:rPr dirty="0" spc="-25"/>
              <a:t> </a:t>
            </a:r>
            <a:r>
              <a:rPr dirty="0" spc="-35"/>
              <a:t>and</a:t>
            </a:r>
            <a:r>
              <a:rPr dirty="0" spc="-25"/>
              <a:t> </a:t>
            </a:r>
            <a:r>
              <a:rPr dirty="0" spc="-10"/>
              <a:t>investment </a:t>
            </a:r>
            <a:r>
              <a:rPr dirty="0" spc="-30"/>
              <a:t>Bridges</a:t>
            </a:r>
            <a:r>
              <a:rPr dirty="0" spc="-35"/>
              <a:t> </a:t>
            </a:r>
            <a:r>
              <a:rPr dirty="0" spc="-30"/>
              <a:t>agriculture</a:t>
            </a:r>
            <a:r>
              <a:rPr dirty="0" spc="-25"/>
              <a:t> </a:t>
            </a:r>
            <a:r>
              <a:rPr dirty="0" spc="-35"/>
              <a:t>and</a:t>
            </a:r>
            <a:r>
              <a:rPr dirty="0" spc="-30"/>
              <a:t> </a:t>
            </a:r>
            <a:r>
              <a:rPr dirty="0" spc="-20"/>
              <a:t>financial</a:t>
            </a:r>
            <a:r>
              <a:rPr dirty="0" spc="-25"/>
              <a:t> </a:t>
            </a:r>
            <a:r>
              <a:rPr dirty="0" spc="-10"/>
              <a:t>analytics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pc="-10" b="1">
                <a:latin typeface="Arial"/>
                <a:cs typeface="Arial"/>
              </a:rPr>
              <a:t>Future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Scope:</a:t>
            </a:r>
          </a:p>
          <a:p>
            <a:pPr marL="289560" marR="1782445">
              <a:lnSpc>
                <a:spcPct val="125299"/>
              </a:lnSpc>
            </a:pPr>
            <a:r>
              <a:rPr dirty="0" spc="-55"/>
              <a:t>AI-</a:t>
            </a:r>
            <a:r>
              <a:rPr dirty="0" spc="-45"/>
              <a:t>based</a:t>
            </a:r>
            <a:r>
              <a:rPr dirty="0" spc="-25"/>
              <a:t> </a:t>
            </a:r>
            <a:r>
              <a:rPr dirty="0" spc="-20"/>
              <a:t>credit </a:t>
            </a:r>
            <a:r>
              <a:rPr dirty="0" spc="-50"/>
              <a:t>scoring</a:t>
            </a:r>
            <a:r>
              <a:rPr dirty="0" spc="-25"/>
              <a:t> </a:t>
            </a:r>
            <a:r>
              <a:rPr dirty="0" spc="-20"/>
              <a:t>for </a:t>
            </a:r>
            <a:r>
              <a:rPr dirty="0" spc="-10"/>
              <a:t>farmers </a:t>
            </a:r>
            <a:r>
              <a:rPr dirty="0" spc="-35"/>
              <a:t>Blockchain-</a:t>
            </a:r>
            <a:r>
              <a:rPr dirty="0" spc="-40"/>
              <a:t>enabled</a:t>
            </a:r>
            <a:r>
              <a:rPr dirty="0" spc="25"/>
              <a:t> </a:t>
            </a:r>
            <a:r>
              <a:rPr dirty="0" spc="-35"/>
              <a:t>accounting</a:t>
            </a:r>
            <a:r>
              <a:rPr dirty="0" spc="25"/>
              <a:t> </a:t>
            </a:r>
            <a:r>
              <a:rPr dirty="0" spc="-55"/>
              <a:t>systems </a:t>
            </a:r>
            <a:r>
              <a:rPr dirty="0" spc="-25"/>
              <a:t>Automated</a:t>
            </a:r>
            <a:r>
              <a:rPr dirty="0" spc="-30"/>
              <a:t> </a:t>
            </a:r>
            <a:r>
              <a:rPr dirty="0" spc="-20"/>
              <a:t>financial</a:t>
            </a:r>
            <a:r>
              <a:rPr dirty="0" spc="-30"/>
              <a:t> </a:t>
            </a:r>
            <a:r>
              <a:rPr dirty="0" spc="-10"/>
              <a:t>dashboards</a:t>
            </a:r>
          </a:p>
          <a:p>
            <a:pPr>
              <a:lnSpc>
                <a:spcPct val="100000"/>
              </a:lnSpc>
              <a:spcBef>
                <a:spcPts val="140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50" b="1">
                <a:latin typeface="Arial"/>
                <a:cs typeface="Arial"/>
              </a:rPr>
              <a:t>Closing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Thought:</a:t>
            </a:r>
            <a:r>
              <a:rPr dirty="0" spc="85" b="1">
                <a:latin typeface="Arial"/>
                <a:cs typeface="Arial"/>
              </a:rPr>
              <a:t> </a:t>
            </a:r>
            <a:r>
              <a:rPr dirty="0" spc="-35"/>
              <a:t>Farming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 spc="-60"/>
              <a:t>now</a:t>
            </a:r>
            <a:r>
              <a:rPr dirty="0" spc="-25"/>
              <a:t> </a:t>
            </a:r>
            <a:r>
              <a:rPr dirty="0" spc="-20"/>
              <a:t>about</a:t>
            </a:r>
            <a:r>
              <a:rPr dirty="0" spc="-55"/>
              <a:t> </a:t>
            </a:r>
            <a:r>
              <a:rPr dirty="0" spc="-50"/>
              <a:t>growing</a:t>
            </a:r>
            <a:r>
              <a:rPr dirty="0" spc="-35"/>
              <a:t> </a:t>
            </a:r>
            <a:r>
              <a:rPr dirty="0" spc="-25"/>
              <a:t>profits</a:t>
            </a:r>
            <a:r>
              <a:rPr dirty="0" spc="-55"/>
              <a:t> </a:t>
            </a:r>
            <a:r>
              <a:rPr dirty="0" spc="-10"/>
              <a:t>with</a:t>
            </a:r>
            <a:r>
              <a:rPr dirty="0" spc="-55"/>
              <a:t> </a:t>
            </a:r>
            <a:r>
              <a:rPr dirty="0" spc="-25"/>
              <a:t>intelligence!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25650" y="3351784"/>
            <a:ext cx="1157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AI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in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Farm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Account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Management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8"/>
            <a:ext cx="410209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80">
                <a:solidFill>
                  <a:srgbClr val="FFFFFF"/>
                </a:solidFill>
                <a:latin typeface="Calibri"/>
                <a:cs typeface="Calibri"/>
              </a:rPr>
              <a:t>Q&amp;A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70">
                <a:solidFill>
                  <a:srgbClr val="000000"/>
                </a:solidFill>
                <a:latin typeface="Tahoma"/>
                <a:cs typeface="Tahoma"/>
              </a:rPr>
              <a:t>Thank</a:t>
            </a:r>
            <a:r>
              <a:rPr dirty="0" sz="2450" spc="-11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2450" spc="-95">
                <a:solidFill>
                  <a:srgbClr val="000000"/>
                </a:solidFill>
                <a:latin typeface="Tahoma"/>
                <a:cs typeface="Tahoma"/>
              </a:rPr>
              <a:t>You!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6038" y="1696311"/>
            <a:ext cx="836294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latin typeface="Calibri"/>
                <a:cs typeface="Calibri"/>
              </a:rPr>
              <a:t>Questions?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Chandra</a:t>
            </a:r>
            <a:r>
              <a:rPr dirty="0" spc="10"/>
              <a:t> </a:t>
            </a:r>
            <a:r>
              <a:rPr dirty="0" spc="-25"/>
              <a:t>Shekar</a:t>
            </a:r>
            <a:r>
              <a:rPr dirty="0" spc="15"/>
              <a:t> </a:t>
            </a:r>
            <a:r>
              <a:rPr dirty="0" spc="-50"/>
              <a:t>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5650" y="3351784"/>
            <a:ext cx="11576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AI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Farm</a:t>
            </a:r>
            <a:r>
              <a:rPr dirty="0" sz="600" spc="4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Account</a:t>
            </a:r>
            <a:r>
              <a:rPr dirty="0" sz="600" spc="3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Management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March</a:t>
            </a:r>
            <a:r>
              <a:rPr dirty="0" spc="15"/>
              <a:t> </a:t>
            </a:r>
            <a:r>
              <a:rPr dirty="0"/>
              <a:t>25,</a:t>
            </a:r>
            <a:r>
              <a:rPr dirty="0" spc="2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Chandra Shekar S</dc:creator>
  <dc:title>AI in Farm Account Management</dc:title>
  <dcterms:created xsi:type="dcterms:W3CDTF">2026-04-16T15:02:29Z</dcterms:created>
  <dcterms:modified xsi:type="dcterms:W3CDTF">2026-04-16T15:02:29Z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2026-03-25T00:00:00Z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2026-04-16T00:00:00Z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